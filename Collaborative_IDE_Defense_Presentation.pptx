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14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описание платформы, стек, сценарий использования (project_dump.txt / project_dump.pdf).
- docker-compose.yml: one-command startup и состав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product flow, architecture, security and execution, supported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architecture block and service roles.
- docker-compose.yml: services frontend, backend, collab, executor, postgres, redis, nginx.
- nginx.conf: proxy to backend and /ws/collab.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4EB0-D65F-D63E-B912-B22D1D45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B0B06-0E32-9DDE-ADB1-79E1A13BD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EFEB8-93B5-5918-0AA3-2407A38C8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architecture block and service roles.
- docker-compose.yml: services frontend, backend, collab, executor, postgres, redis, nginx.
- nginx.conf: proxy to backend and /ws/collab.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BF141-98A3-837C-91E7-7F6845FE31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93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FastAPI, PostgreSQL, Redis, React, Monaco, Yjs/Hocuspocus, Dockerized sandbox execution, AI review.
- frontend/package.json: React, Monaco, @hocuspocus/provider, yjs, y-monaco.
- backend/requirements.txt and collab/package-lock.json: FastAPI, SQLAlchemy, Redis, Hocuspocus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register/login, create project, collaborate, run snapshot, request AI review, activity log and leaderboard.
- backend API router and endpoints: auth, projects, execution, reviews, activities, chat, terminal.
- migration 20260401_0002: project_files, project_chat_messages, terminal_sessions, terminal_events.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collab service for CRDT sync, awareness and cursor presence.
- collab/src index: onAuthenticate, onAwarenessUpdate, onChange.
- frontend package.json: @hocuspocus/provider, monaco-editor, yjs, y-monaco.
- ProjectPage/related frontend components from feature dump: presence users, collaborator overlay, active file, cursor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synthesized from implemented architecture, feature set, and roadmap implications of current platform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Collaborative IDE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87000" y="6446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Защита проекта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12191695" cy="665683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835" y="1046988"/>
            <a:ext cx="10789920" cy="4892040"/>
          </a:xfrm>
          <a:prstGeom prst="roundRect">
            <a:avLst>
              <a:gd name="adj" fmla="val 4112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Collaborative IDE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24128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Презентация для защиты проекта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28803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Веб-IDE для совместного редактирования кода в реальном времени</a:t>
            </a:r>
          </a:p>
          <a:p>
            <a:r>
              <a:rPr lang="ru-RU" sz="1600" dirty="0">
                <a:solidFill>
                  <a:schemeClr val="bg1"/>
                </a:solidFill>
              </a:rPr>
              <a:t>Поддержка нескольких участников в одной комнате</a:t>
            </a:r>
          </a:p>
          <a:p>
            <a:r>
              <a:rPr lang="ru-RU" sz="1600" dirty="0">
                <a:solidFill>
                  <a:schemeClr val="bg1"/>
                </a:solidFill>
              </a:rPr>
              <a:t>Запуск Python кода</a:t>
            </a:r>
          </a:p>
          <a:p>
            <a:r>
              <a:rPr lang="ru-RU" sz="1600" dirty="0">
                <a:solidFill>
                  <a:schemeClr val="bg1"/>
                </a:solidFill>
              </a:rPr>
              <a:t>AI-проверка кода</a:t>
            </a:r>
          </a:p>
          <a:p>
            <a:r>
              <a:rPr lang="ru-RU" sz="1600" dirty="0">
                <a:solidFill>
                  <a:schemeClr val="bg1"/>
                </a:solidFill>
              </a:rPr>
              <a:t>Система событий и таблица активности участников</a:t>
            </a:r>
          </a:p>
        </p:txBody>
      </p:sp>
      <p:sp>
        <p:nvSpPr>
          <p:cNvPr id="7" name="Shape 5"/>
          <p:cNvSpPr/>
          <p:nvPr/>
        </p:nvSpPr>
        <p:spPr>
          <a:xfrm>
            <a:off x="7543800" y="1508760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54112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</a:rPr>
              <a:t>Realtime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54112" y="1883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Yjs + Hocuspocus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43800" y="2651760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132B24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54112" y="2807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54112" y="3026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Sandbox executor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43800" y="3794760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1B2437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54112" y="3950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54112" y="4169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docker compose up --build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A76594-A332-7D45-9B88-CBE271BD6335}"/>
              </a:ext>
            </a:extLst>
          </p:cNvPr>
          <p:cNvSpPr txBox="1"/>
          <p:nvPr/>
        </p:nvSpPr>
        <p:spPr>
          <a:xfrm>
            <a:off x="1005840" y="5292769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4F0EB"/>
                </a:solidFill>
                <a:latin typeface="+mj-lt"/>
              </a:rPr>
              <a:t>Команда: 67 (АК </a:t>
            </a:r>
            <a:r>
              <a:rPr lang="ru-RU" b="1" dirty="0" err="1">
                <a:solidFill>
                  <a:srgbClr val="F4F0EB"/>
                </a:solidFill>
                <a:latin typeface="+mj-lt"/>
              </a:rPr>
              <a:t>СибГУ</a:t>
            </a:r>
            <a:r>
              <a:rPr lang="ru-RU" b="1" dirty="0">
                <a:solidFill>
                  <a:srgbClr val="F4F0EB"/>
                </a:solidFill>
                <a:latin typeface="+mj-lt"/>
              </a:rPr>
              <a:t> им. М.Ф. Решетнева)</a:t>
            </a:r>
            <a:endParaRPr lang="ru-RU" b="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Актуальность, проблема и цель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CC"/>
                </a:solidFill>
              </a:rPr>
              <a:t>Почему этот проект имеет практическую ценность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577840" cy="5029200"/>
          </a:xfrm>
          <a:prstGeom prst="roundRect">
            <a:avLst>
              <a:gd name="adj" fmla="val 290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234440"/>
            <a:ext cx="5257800" cy="50292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0069" y="1508760"/>
            <a:ext cx="1614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038574"/>
            <a:ext cx="484632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 совместной работе над кодом участникам часто нужны:</a:t>
            </a:r>
          </a:p>
          <a:p>
            <a:r>
              <a:rPr lang="ru-RU" dirty="0">
                <a:solidFill>
                  <a:schemeClr val="bg1"/>
                </a:solidFill>
              </a:rPr>
              <a:t>- общий редактор</a:t>
            </a:r>
          </a:p>
          <a:p>
            <a:r>
              <a:rPr lang="ru-RU" dirty="0">
                <a:solidFill>
                  <a:schemeClr val="bg1"/>
                </a:solidFill>
              </a:rPr>
              <a:t>- синхронизация изменений в реальном времени</a:t>
            </a:r>
          </a:p>
          <a:p>
            <a:r>
              <a:rPr lang="ru-RU" dirty="0">
                <a:solidFill>
                  <a:schemeClr val="bg1"/>
                </a:solidFill>
              </a:rPr>
              <a:t>- быстрый запуск кода</a:t>
            </a:r>
          </a:p>
          <a:p>
            <a:r>
              <a:rPr lang="ru-RU" dirty="0">
                <a:solidFill>
                  <a:schemeClr val="bg1"/>
                </a:solidFill>
              </a:rPr>
              <a:t>- отслеживание активности участников</a:t>
            </a:r>
          </a:p>
          <a:p>
            <a:r>
              <a:rPr lang="ru-RU" dirty="0">
                <a:solidFill>
                  <a:schemeClr val="bg1"/>
                </a:solidFill>
              </a:rPr>
              <a:t>- автоматическая проверка качества кода</a:t>
            </a:r>
          </a:p>
        </p:txBody>
      </p:sp>
      <p:sp>
        <p:nvSpPr>
          <p:cNvPr id="10" name="Text 8"/>
          <p:cNvSpPr/>
          <p:nvPr/>
        </p:nvSpPr>
        <p:spPr>
          <a:xfrm>
            <a:off x="6543339" y="1508760"/>
            <a:ext cx="237206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Ключевые задачи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43339" y="1782184"/>
            <a:ext cx="4572000" cy="305875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br>
              <a:rPr lang="ru-RU" dirty="0"/>
            </a:br>
            <a:r>
              <a:rPr lang="ru-RU" sz="2300" dirty="0">
                <a:solidFill>
                  <a:schemeClr val="bg1"/>
                </a:solidFill>
              </a:rPr>
              <a:t>Разработать веб-приложение, которое позволяет:</a:t>
            </a:r>
          </a:p>
          <a:p>
            <a:r>
              <a:rPr lang="ru-RU" sz="2300" dirty="0">
                <a:solidFill>
                  <a:schemeClr val="bg1"/>
                </a:solidFill>
              </a:rPr>
              <a:t>- подключаться к общей комнате</a:t>
            </a:r>
          </a:p>
          <a:p>
            <a:r>
              <a:rPr lang="ru-RU" sz="2300" dirty="0">
                <a:solidFill>
                  <a:schemeClr val="bg1"/>
                </a:solidFill>
              </a:rPr>
              <a:t>- совместно редактировать код</a:t>
            </a:r>
          </a:p>
          <a:p>
            <a:r>
              <a:rPr lang="ru-RU" sz="2300" dirty="0">
                <a:solidFill>
                  <a:schemeClr val="bg1"/>
                </a:solidFill>
              </a:rPr>
              <a:t>- видеть других участников</a:t>
            </a:r>
          </a:p>
          <a:p>
            <a:r>
              <a:rPr lang="ru-RU" sz="2300" dirty="0">
                <a:solidFill>
                  <a:schemeClr val="bg1"/>
                </a:solidFill>
              </a:rPr>
              <a:t>- запускать код</a:t>
            </a:r>
          </a:p>
          <a:p>
            <a:r>
              <a:rPr lang="ru-RU" sz="2300" dirty="0">
                <a:solidFill>
                  <a:schemeClr val="bg1"/>
                </a:solidFill>
              </a:rPr>
              <a:t>- получать AI-</a:t>
            </a:r>
            <a:r>
              <a:rPr lang="ru-RU" sz="2300" dirty="0" err="1">
                <a:solidFill>
                  <a:schemeClr val="bg1"/>
                </a:solidFill>
              </a:rPr>
              <a:t>review</a:t>
            </a:r>
            <a:endParaRPr lang="ru-RU" sz="2300" dirty="0">
              <a:solidFill>
                <a:schemeClr val="bg1"/>
              </a:solidFill>
            </a:endParaRPr>
          </a:p>
          <a:p>
            <a:r>
              <a:rPr lang="ru-RU" sz="2300" dirty="0">
                <a:solidFill>
                  <a:schemeClr val="bg1"/>
                </a:solidFill>
              </a:rPr>
              <a:t>- отслеживать события и активность</a:t>
            </a:r>
          </a:p>
          <a:p>
            <a:br>
              <a:rPr lang="ru-RU" dirty="0"/>
            </a:b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029" y="360711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600" b="1" dirty="0">
                <a:solidFill>
                  <a:srgbClr val="FFFFFF"/>
                </a:solidFill>
              </a:rPr>
              <a:t>Функциональные возможности</a:t>
            </a:r>
            <a:endParaRPr lang="en-US" sz="2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E82EB1D-A1E8-0D84-C7CE-7C09C893D6D1}"/>
              </a:ext>
            </a:extLst>
          </p:cNvPr>
          <p:cNvSpPr/>
          <p:nvPr/>
        </p:nvSpPr>
        <p:spPr>
          <a:xfrm>
            <a:off x="540572" y="914400"/>
            <a:ext cx="5654040" cy="5202936"/>
          </a:xfrm>
          <a:prstGeom prst="roundRect">
            <a:avLst>
              <a:gd name="adj" fmla="val 290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B9A91C-2CEF-C7FB-063B-73CC867BA10E}"/>
              </a:ext>
            </a:extLst>
          </p:cNvPr>
          <p:cNvSpPr txBox="1"/>
          <p:nvPr/>
        </p:nvSpPr>
        <p:spPr>
          <a:xfrm>
            <a:off x="575534" y="1015939"/>
            <a:ext cx="5241215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вход в комнату по </a:t>
            </a:r>
            <a:r>
              <a:rPr lang="ru-RU" b="0" i="0" dirty="0" err="1">
                <a:solidFill>
                  <a:srgbClr val="F9FAFB"/>
                </a:solidFill>
                <a:effectLst/>
              </a:rPr>
              <a:t>roomId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подключение нескольких пользователей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совместное редактирование кода в реальном времени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отображение участников комнаты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отображение позиций курсоров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журнал событий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запуск кода на Python и JavaScript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AI-анализ кода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</a:rPr>
              <a:t> т</a:t>
            </a:r>
            <a:r>
              <a:rPr lang="ru-RU" b="0" i="0" dirty="0">
                <a:solidFill>
                  <a:srgbClr val="F9FAFB"/>
                </a:solidFill>
                <a:effectLst/>
              </a:rPr>
              <a:t>аблица лидеров по активности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Telegram-уведомления о важных событиях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4B282-A66E-15C7-8286-D51D6035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C62407-95ED-AB1F-9AA8-D24E02BA1CB3}"/>
              </a:ext>
            </a:extLst>
          </p:cNvPr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Архитектура системы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2AF296-281D-7F08-F009-AE62E7C9E9EA}"/>
              </a:ext>
            </a:extLst>
          </p:cNvPr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CC"/>
                </a:solidFill>
              </a:rPr>
              <a:t>Платформа построена как набор специализированных сервисов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E6C73D7-B63A-6106-9D01-523C35718885}"/>
              </a:ext>
            </a:extLst>
          </p:cNvPr>
          <p:cNvSpPr/>
          <p:nvPr/>
        </p:nvSpPr>
        <p:spPr>
          <a:xfrm>
            <a:off x="792480" y="5020056"/>
            <a:ext cx="10607040" cy="1234440"/>
          </a:xfrm>
          <a:prstGeom prst="roundRect">
            <a:avLst>
              <a:gd name="adj" fmla="val 11852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7B26BD3-3F5E-5420-D4EA-2BC48BF98866}"/>
              </a:ext>
            </a:extLst>
          </p:cNvPr>
          <p:cNvSpPr/>
          <p:nvPr/>
        </p:nvSpPr>
        <p:spPr>
          <a:xfrm>
            <a:off x="1021080" y="529437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Основные связи: frontend обращается к backend по REST/WebSocket, Nginx маршрутизирует HTTP и /ws/collab, collab-сервис синхронизирует документ через Yjs/Hocuspocus, executor запускает пользовательский код в sandbox, PostgreSQL хранит сущности проекта и историю, Redis используется для realtime-координации.</a:t>
            </a:r>
            <a:endParaRPr lang="en-US" sz="18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4E7E4604-867E-23B7-0378-EFF40B98D71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CE7445-32AC-4F6C-9F08-155CD6D7A81E}"/>
              </a:ext>
            </a:extLst>
          </p:cNvPr>
          <p:cNvSpPr txBox="1"/>
          <p:nvPr/>
        </p:nvSpPr>
        <p:spPr>
          <a:xfrm>
            <a:off x="566928" y="1332973"/>
            <a:ext cx="6100482" cy="320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0" i="1" dirty="0">
                <a:solidFill>
                  <a:srgbClr val="F9FAFB"/>
                </a:solidFill>
                <a:effectLst/>
              </a:rPr>
              <a:t>Frontend:</a:t>
            </a:r>
            <a:endParaRPr lang="en-US" b="0" i="0" dirty="0">
              <a:solidFill>
                <a:srgbClr val="F9FAFB"/>
              </a:solidFill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React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Vite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Monaco Editor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WebSocket </a:t>
            </a:r>
            <a:r>
              <a:rPr lang="ru-RU" b="0" i="0" dirty="0">
                <a:solidFill>
                  <a:srgbClr val="F9FAFB"/>
                </a:solidFill>
                <a:effectLst/>
              </a:rPr>
              <a:t>для синхронизации в реальном времени</a:t>
            </a:r>
          </a:p>
          <a:p>
            <a:pPr algn="just"/>
            <a:endParaRPr lang="ru-RU" b="0" i="0" dirty="0">
              <a:solidFill>
                <a:srgbClr val="F9FAFB"/>
              </a:solidFill>
              <a:effectLst/>
            </a:endParaRPr>
          </a:p>
          <a:p>
            <a:pPr algn="just">
              <a:buNone/>
            </a:pPr>
            <a:r>
              <a:rPr lang="ru-RU" b="1" i="0" dirty="0">
                <a:solidFill>
                  <a:srgbClr val="F9FAFB"/>
                </a:solidFill>
                <a:effectLst/>
              </a:rPr>
              <a:t>Взаимодействие компонентов: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frontend </a:t>
            </a:r>
            <a:r>
              <a:rPr lang="ru-RU" b="0" i="0" dirty="0">
                <a:solidFill>
                  <a:srgbClr val="F9FAFB"/>
                </a:solidFill>
                <a:effectLst/>
              </a:rPr>
              <a:t>отправляет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HTTP-</a:t>
            </a:r>
            <a:r>
              <a:rPr lang="ru-RU" b="0" i="0" dirty="0">
                <a:solidFill>
                  <a:srgbClr val="F9FAFB"/>
                </a:solidFill>
                <a:effectLst/>
              </a:rPr>
              <a:t>запросы к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backend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для редактирования и синхронизации используется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WebSocket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backend </a:t>
            </a:r>
            <a:r>
              <a:rPr lang="ru-RU" b="0" i="0" dirty="0">
                <a:solidFill>
                  <a:srgbClr val="F9FAFB"/>
                </a:solidFill>
                <a:effectLst/>
              </a:rPr>
              <a:t>хранит текущее состояние комнат в памяти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032CB0-47B9-CEBE-D0A1-2BEBF8716B9A}"/>
              </a:ext>
            </a:extLst>
          </p:cNvPr>
          <p:cNvSpPr txBox="1"/>
          <p:nvPr/>
        </p:nvSpPr>
        <p:spPr>
          <a:xfrm>
            <a:off x="7039535" y="1372922"/>
            <a:ext cx="41394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0" i="1" dirty="0">
                <a:solidFill>
                  <a:srgbClr val="F9FAFB"/>
                </a:solidFill>
                <a:effectLst/>
              </a:rPr>
              <a:t>Backend:</a:t>
            </a:r>
            <a:endParaRPr lang="en-US" b="0" i="0" dirty="0">
              <a:solidFill>
                <a:srgbClr val="F9FAFB"/>
              </a:solidFill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F9FAFB"/>
                </a:solidFill>
                <a:effectLst/>
              </a:rPr>
              <a:t>FastAPI</a:t>
            </a:r>
            <a:endParaRPr lang="en-US" b="0" i="0" dirty="0">
              <a:solidFill>
                <a:srgbClr val="F9FAFB"/>
              </a:solidFill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WebSocket-</a:t>
            </a:r>
            <a:r>
              <a:rPr lang="ru-RU" b="0" i="0" dirty="0">
                <a:solidFill>
                  <a:srgbClr val="F9FAFB"/>
                </a:solidFill>
                <a:effectLst/>
              </a:rPr>
              <a:t>обработчики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REST API </a:t>
            </a:r>
            <a:r>
              <a:rPr lang="ru-RU" b="0" i="0" dirty="0">
                <a:solidFill>
                  <a:srgbClr val="F9FAFB"/>
                </a:solidFill>
                <a:effectLst/>
              </a:rPr>
              <a:t>для запуска кода и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AI-review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менеджер комнат и участников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 модуль уведомлений в </a:t>
            </a:r>
            <a:r>
              <a:rPr lang="en-US" b="0" i="0" dirty="0">
                <a:solidFill>
                  <a:srgbClr val="F9FAFB"/>
                </a:solidFill>
                <a:effectLst/>
              </a:rPr>
              <a:t>Telegram</a:t>
            </a:r>
          </a:p>
        </p:txBody>
      </p:sp>
    </p:spTree>
    <p:extLst>
      <p:ext uri="{BB962C8B-B14F-4D97-AF65-F5344CB8AC3E}">
        <p14:creationId xmlns:p14="http://schemas.microsoft.com/office/powerpoint/2010/main" val="314924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Технологический стек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CC"/>
                </a:solidFill>
              </a:rPr>
              <a:t>Ключевые технологии и их роль в проекте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" y="201168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React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Vite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Monaco Editor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34824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11A2D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9416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44552" y="201168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FastAPI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Python</a:t>
            </a:r>
            <a:endParaRPr lang="ru-RU" sz="1500" dirty="0">
              <a:solidFill>
                <a:schemeClr val="bg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500" dirty="0" err="1">
                <a:solidFill>
                  <a:schemeClr val="bg1"/>
                </a:solidFill>
              </a:rPr>
              <a:t>Uvicorn</a:t>
            </a:r>
            <a:endParaRPr lang="ru-RU" sz="1500" dirty="0">
              <a:solidFill>
                <a:schemeClr val="bg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500" dirty="0" err="1">
                <a:solidFill>
                  <a:schemeClr val="bg1"/>
                </a:solidFill>
              </a:rPr>
              <a:t>Pydantic</a:t>
            </a:r>
            <a:endParaRPr lang="ru-RU" sz="15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83849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11A2D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8441" y="1691640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Infrastructure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93577" y="214884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Docker Compose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Docker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Nginx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81913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46505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46E5"/>
                </a:solidFill>
              </a:rPr>
              <a:t>Other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2497" y="214884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Telegram Bot API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AI API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Fallback mock-review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600" b="1" dirty="0">
                <a:solidFill>
                  <a:srgbClr val="FFFFFF"/>
                </a:solidFill>
              </a:rPr>
              <a:t>Основные модули системы</a:t>
            </a:r>
            <a:endParaRPr lang="en-US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2B165E-058F-717F-2C48-5061828A33EF}"/>
              </a:ext>
            </a:extLst>
          </p:cNvPr>
          <p:cNvSpPr txBox="1"/>
          <p:nvPr/>
        </p:nvSpPr>
        <p:spPr>
          <a:xfrm>
            <a:off x="548640" y="1138214"/>
            <a:ext cx="6100482" cy="32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rgbClr val="F9FAFB"/>
                </a:solidFill>
                <a:effectLst/>
              </a:rPr>
              <a:t>Ключевые модули </a:t>
            </a:r>
            <a:r>
              <a:rPr lang="en-US" sz="1600" b="1" i="0" dirty="0">
                <a:solidFill>
                  <a:srgbClr val="F9FAFB"/>
                </a:solidFill>
                <a:effectLst/>
              </a:rPr>
              <a:t>backend:</a:t>
            </a:r>
            <a:endParaRPr lang="en-US" sz="1600" b="0" i="0" dirty="0">
              <a:solidFill>
                <a:srgbClr val="F9FAFB"/>
              </a:solidFill>
              <a:effectLst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websocket_handlers.py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обработка подключений, событий, редактирования и курсоров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room_manager.py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хранение состояния комнат, участников, событий и очков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run_router.py / code_runner.py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запуск пользовательского кода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ai_router.py / ai_reviewer.py — AI-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проверка кода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telegram_notifier.py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отправка уведомлений в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Telegram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7D9AF6-7EB5-1A48-29EE-3086B59FFAD7}"/>
              </a:ext>
            </a:extLst>
          </p:cNvPr>
          <p:cNvSpPr txBox="1"/>
          <p:nvPr/>
        </p:nvSpPr>
        <p:spPr>
          <a:xfrm>
            <a:off x="6752665" y="1138214"/>
            <a:ext cx="4890695" cy="39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rgbClr val="F9FAFB"/>
                </a:solidFill>
                <a:effectLst/>
              </a:rPr>
              <a:t>Ключевые модули </a:t>
            </a:r>
            <a:r>
              <a:rPr lang="en-US" sz="1600" b="1" i="0" dirty="0">
                <a:solidFill>
                  <a:srgbClr val="F9FAFB"/>
                </a:solidFill>
                <a:effectLst/>
              </a:rPr>
              <a:t>frontend:</a:t>
            </a:r>
            <a:endParaRPr lang="en-US" sz="1600" b="0" i="0" dirty="0">
              <a:solidFill>
                <a:srgbClr val="F9FAFB"/>
              </a:solidFill>
              <a:effectLst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F9FAFB"/>
                </a:solidFill>
                <a:effectLst/>
              </a:rPr>
              <a:t>JoinPage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вход в комнату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F9FAFB"/>
                </a:solidFill>
                <a:effectLst/>
              </a:rPr>
              <a:t>RoomPage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основная страница работы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EditorPane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редактор кода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F9FAFB"/>
                </a:solidFill>
                <a:effectLst/>
              </a:rPr>
              <a:t>ParticipantsPanel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список участников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F9FAFB"/>
                </a:solidFill>
                <a:effectLst/>
              </a:rPr>
              <a:t>EventLogPanel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журнал событий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F9FAFB"/>
                </a:solidFill>
                <a:effectLst/>
              </a:rPr>
              <a:t>AIReviewPanel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результаты 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AI-review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F9FAFB"/>
                </a:solidFill>
                <a:effectLst/>
              </a:rPr>
              <a:t>RunOutputPanel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вывод выполнения кода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F9FAFB"/>
                </a:solidFill>
                <a:effectLst/>
              </a:rPr>
              <a:t>LeaderboardPanel</a:t>
            </a:r>
            <a:r>
              <a:rPr lang="en-US" sz="1600" b="0" i="0" dirty="0">
                <a:solidFill>
                  <a:srgbClr val="F9FAFB"/>
                </a:solidFill>
                <a:effectLst/>
              </a:rPr>
              <a:t> — </a:t>
            </a:r>
            <a:r>
              <a:rPr lang="ru-RU" sz="1600" b="0" i="0" dirty="0">
                <a:solidFill>
                  <a:srgbClr val="F9FAFB"/>
                </a:solidFill>
                <a:effectLst/>
              </a:rPr>
              <a:t>рейтинг участников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600" b="1" dirty="0">
                <a:solidFill>
                  <a:schemeClr val="bg1"/>
                </a:solidFill>
              </a:rPr>
              <a:t>Развертывание и запуск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486400" cy="5029200"/>
          </a:xfrm>
          <a:prstGeom prst="roundRect">
            <a:avLst>
              <a:gd name="adj" fmla="val 290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46520" y="1325880"/>
            <a:ext cx="4983480" cy="5029200"/>
          </a:xfrm>
          <a:prstGeom prst="roundRect">
            <a:avLst>
              <a:gd name="adj" fmla="val 2936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4198" y="1805671"/>
            <a:ext cx="48920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ru-RU" b="1" dirty="0" err="1">
                <a:solidFill>
                  <a:schemeClr val="bg1"/>
                </a:solidFill>
              </a:rPr>
              <a:t>Docker</a:t>
            </a:r>
            <a:r>
              <a:rPr lang="ru-RU" b="1" dirty="0">
                <a:solidFill>
                  <a:schemeClr val="bg1"/>
                </a:solidFill>
              </a:rPr>
              <a:t>-развертывание: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Для удобного запуска проект был </a:t>
            </a:r>
            <a:r>
              <a:rPr lang="ru-RU" dirty="0" err="1">
                <a:solidFill>
                  <a:schemeClr val="bg1"/>
                </a:solidFill>
              </a:rPr>
              <a:t>контейнеризирован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b="1" dirty="0">
                <a:solidFill>
                  <a:schemeClr val="accent6"/>
                </a:solidFill>
              </a:rPr>
              <a:t>Команда запуска: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1567996"/>
            <a:ext cx="3051586" cy="106679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latinLnBrk="1"/>
            <a:r>
              <a:rPr lang="en-US" dirty="0">
                <a:solidFill>
                  <a:schemeClr val="bg1"/>
                </a:solidFill>
              </a:rPr>
              <a:t>docker compose up --build</a:t>
            </a:r>
          </a:p>
        </p:txBody>
      </p:sp>
      <p:sp>
        <p:nvSpPr>
          <p:cNvPr id="10" name="Shape 8"/>
          <p:cNvSpPr/>
          <p:nvPr/>
        </p:nvSpPr>
        <p:spPr>
          <a:xfrm>
            <a:off x="6720840" y="4389120"/>
            <a:ext cx="3931920" cy="0"/>
          </a:xfrm>
          <a:prstGeom prst="line">
            <a:avLst/>
          </a:prstGeom>
          <a:noFill/>
          <a:ln w="12700">
            <a:solidFill>
              <a:srgbClr val="27324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B5737-E507-5FEE-9B13-A8B1ACFE2378}"/>
              </a:ext>
            </a:extLst>
          </p:cNvPr>
          <p:cNvSpPr txBox="1"/>
          <p:nvPr/>
        </p:nvSpPr>
        <p:spPr>
          <a:xfrm>
            <a:off x="812202" y="2963317"/>
            <a:ext cx="6100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1" dirty="0">
                <a:solidFill>
                  <a:srgbClr val="F9FAFB"/>
                </a:solidFill>
                <a:effectLst/>
              </a:rPr>
              <a:t>Что сделано:</a:t>
            </a:r>
            <a:endParaRPr lang="ru-RU" b="1" i="0" dirty="0">
              <a:solidFill>
                <a:srgbClr val="F9FAFB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отдельный контейнер для </a:t>
            </a:r>
            <a:r>
              <a:rPr lang="ru-RU" b="0" i="0" dirty="0" err="1">
                <a:solidFill>
                  <a:srgbClr val="F9FAFB"/>
                </a:solidFill>
                <a:effectLst/>
              </a:rPr>
              <a:t>backend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отдельный контейнер для </a:t>
            </a:r>
            <a:r>
              <a:rPr lang="ru-RU" b="0" i="0" dirty="0" err="1">
                <a:solidFill>
                  <a:srgbClr val="F9FAFB"/>
                </a:solidFill>
                <a:effectLst/>
              </a:rPr>
              <a:t>frontend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F9FAFB"/>
                </a:solidFill>
                <a:effectLst/>
              </a:rPr>
              <a:t>frontend</a:t>
            </a:r>
            <a:r>
              <a:rPr lang="ru-RU" b="0" i="0" dirty="0">
                <a:solidFill>
                  <a:srgbClr val="F9FAFB"/>
                </a:solidFill>
                <a:effectLst/>
              </a:rPr>
              <a:t> обслуживается через </a:t>
            </a:r>
            <a:r>
              <a:rPr lang="ru-RU" b="0" i="0" dirty="0" err="1">
                <a:solidFill>
                  <a:srgbClr val="F9FAFB"/>
                </a:solidFill>
                <a:effectLst/>
              </a:rPr>
              <a:t>Nginx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HTTP API и </a:t>
            </a:r>
            <a:r>
              <a:rPr lang="ru-RU" b="0" i="0" dirty="0" err="1">
                <a:solidFill>
                  <a:srgbClr val="F9FAFB"/>
                </a:solidFill>
                <a:effectLst/>
              </a:rPr>
              <a:t>WebSocket</a:t>
            </a:r>
            <a:r>
              <a:rPr lang="ru-RU" b="0" i="0" dirty="0">
                <a:solidFill>
                  <a:srgbClr val="F9FAFB"/>
                </a:solidFill>
                <a:effectLst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</a:rPr>
              <a:t>проксируются</a:t>
            </a:r>
            <a:r>
              <a:rPr lang="ru-RU" b="0" i="0" dirty="0">
                <a:solidFill>
                  <a:srgbClr val="F9FAFB"/>
                </a:solidFill>
                <a:effectLst/>
              </a:rPr>
              <a:t> на </a:t>
            </a:r>
            <a:r>
              <a:rPr lang="ru-RU" b="0" i="0" dirty="0" err="1">
                <a:solidFill>
                  <a:srgbClr val="F9FAFB"/>
                </a:solidFill>
                <a:effectLst/>
              </a:rPr>
              <a:t>backend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</a:rPr>
              <a:t>запуск выполняется одной командой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A12CB-1BD9-6093-6814-0C31212740EA}"/>
              </a:ext>
            </a:extLst>
          </p:cNvPr>
          <p:cNvSpPr txBox="1"/>
          <p:nvPr/>
        </p:nvSpPr>
        <p:spPr>
          <a:xfrm>
            <a:off x="6675120" y="3262730"/>
            <a:ext cx="4302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</a:rPr>
              <a:t>После запуска приложение сразу доступно в браузере и готово к работе.</a:t>
            </a:r>
            <a:endParaRPr lang="ru-RU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E0AEE9D-B06F-53EC-3838-D24A51EFAEAD}"/>
              </a:ext>
            </a:extLst>
          </p:cNvPr>
          <p:cNvSpPr/>
          <p:nvPr/>
        </p:nvSpPr>
        <p:spPr>
          <a:xfrm>
            <a:off x="6675120" y="2908401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b="1" dirty="0">
                <a:solidFill>
                  <a:schemeClr val="accent6"/>
                </a:solidFill>
              </a:rPr>
              <a:t>Результат:</a:t>
            </a:r>
            <a:endParaRPr lang="en-US" sz="20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Итоги, результаты и перспективы развития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CC"/>
                </a:solidFill>
              </a:rPr>
              <a:t>Что уже сделано и как проект можно развивать дальше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4937760"/>
          </a:xfrm>
          <a:prstGeom prst="roundRect">
            <a:avLst>
              <a:gd name="adj" fmla="val 2963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371600"/>
            <a:ext cx="5120640" cy="493776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642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Результат работы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6344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bg1"/>
                </a:solidFill>
              </a:rPr>
              <a:t>совместную IDE в браузере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bg1"/>
                </a:solidFill>
              </a:rPr>
              <a:t>синхронное редактирование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bg1"/>
                </a:solidFill>
              </a:rPr>
              <a:t>запуск программ на двух языках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bg1"/>
                </a:solidFill>
              </a:rPr>
              <a:t>систему событий и активности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bg1"/>
                </a:solidFill>
              </a:rPr>
              <a:t>AI-анализ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solidFill>
                  <a:schemeClr val="bg1"/>
                </a:solidFill>
              </a:rPr>
              <a:t>Docker-развертывание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37960" y="16642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</a:rPr>
              <a:t>Перспективы развития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29768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хранение данных в базе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авторизация пользователей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поддержка большего числа языков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история изменений документа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более безопасная песочница для выполнения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расширение AI-функций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деплой в облако</a:t>
            </a:r>
          </a:p>
        </p:txBody>
      </p:sp>
      <p:sp>
        <p:nvSpPr>
          <p:cNvPr id="10" name="Text 8"/>
          <p:cNvSpPr/>
          <p:nvPr/>
        </p:nvSpPr>
        <p:spPr>
          <a:xfrm>
            <a:off x="653796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Спасибо за внимание!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5690BC-E7D1-49A7-96D6-5B9D5054565F}"/>
              </a:ext>
            </a:extLst>
          </p:cNvPr>
          <p:cNvSpPr txBox="1"/>
          <p:nvPr/>
        </p:nvSpPr>
        <p:spPr>
          <a:xfrm>
            <a:off x="826994" y="2218757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</a:rPr>
              <a:t>В рамках проекта удалось реализовать: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1027</Words>
  <Application>Microsoft Office PowerPoint</Application>
  <PresentationFormat>Широкоэкранный</PresentationFormat>
  <Paragraphs>152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IDE Platform</dc:title>
  <dc:subject>Защита проекта Collaborative IDE</dc:subject>
  <dc:creator>OpenAI</dc:creator>
  <cp:lastModifiedBy>fmz101 ㅤ</cp:lastModifiedBy>
  <cp:revision>4</cp:revision>
  <dcterms:created xsi:type="dcterms:W3CDTF">2026-04-02T06:56:48Z</dcterms:created>
  <dcterms:modified xsi:type="dcterms:W3CDTF">2026-04-02T11:26:40Z</dcterms:modified>
</cp:coreProperties>
</file>